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1A17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C1A17"/>
                </a:solidFill>
                <a:latin typeface="Cambria"/>
              </a:rPr>
              <a:t>Illustrative membership ARR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Membership ARR (illustrative)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numFmt formatCode="$0.0&quot;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A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2.1</c:v>
                </c:pt>
                <c:pt idx="2">
                  <c:v>6.8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C1A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7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7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Boujee Book brings the Uber playbook to the $95B personal-care economy. This is a real screenshot of the working product — live GPS tracking of your barber on the way to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pain from both sides: customers can't find/trust/track; professionals lose income to coordination overhead, no-shows, and platform take-rates.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live product screenshots, not mockups. The three pillars: booking without phone tag, tracking without blind waits, pricing without commissions.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wedge feature. Booksy and StyleSeat are calendars; Glamsquad is an agency. None offer consumer-grade live tracking. It converts anxiety (is my pro coming?) into delight, and it's already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Supply side is the constraint in every services marketplace. Our pitch to pros is unbeatable: a full booking + CRM + earnings stack, zero take-rate. Screenshots are the live pro dashboard and earnings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features are usually a seed-stage promise; here they're shipped: license queue, moderation, disputes, audit logs, data rights. This also clears App Store review requirements (UGC moderation, account deletion).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TAM honest: ~$95B US services spend is a widely-cited ballpark; the wedge is urban mobile-first bookings. City-by-city density beats national thinness.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Subscription economics: predictable revenue, no take-rate fights, and the 0% commission story recruits supply. The chart is explicitly illustrative — swap with your live numbers post-launch.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Booksy/StyleSeat are pro-side calendars with fees; Glamsquad is a managed agency (thin margins, limited supply); DMs are free but chaotic. The full loop — discovery, booking, tracking, trust, zero commission — is unclaimed.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 slide for a pre-launch company = execution velocity. The entire platform in this deck is functional today; remaining launch work is integrations (Stripe, storage, email), not product invention.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Sequence: prove one city, go mobile for retention, then density and moat features. The Capacitor path reuses the shipped codebase for the app stores.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raise amount and allocation to your actual plan before sending — the structure is what matters: integrations + supply + one-city proof. Close on the demo: the product works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THEM · BOOK THEM · LOVE THEM™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BOUJEE BOOK</a:t>
            </a:r>
            <a:pPr indent="0" marL="0">
              <a:buNone/>
            </a:pPr>
            <a:r>
              <a:rPr lang="en-US" sz="2000" b="1" spc="400" kern="0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™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8D2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Operating System for Personal Care.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7947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8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licensed beauty professionals. Watch them arrive like a ride-share.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8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commission — pros keep 100%.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July 2026  ·  help@boujeebook.app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727948" y="635508"/>
            <a:ext cx="2635849" cy="5586984"/>
          </a:xfrm>
          <a:prstGeom prst="roundRect">
            <a:avLst>
              <a:gd name="adj" fmla="val 5551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/Users/tech/workspace/boujee-book/public/screenshots/tr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685800"/>
            <a:ext cx="253526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care still runs on DMs and no-shows.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563624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5636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 is fragmented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577840" y="1508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great barber or lash tech means Instagram archaeology, screenshots, and word of mouth. There is no trusted, licensed marketplace.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27706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71576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is phone tag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577840" y="2715768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DMs, missed calls, double-booked slots. Independent pros spend hours a week coordinating instead of working.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3977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392277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No-shows and blind waits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577840" y="3922776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don't know if the pro is coming; pros eat the cost when clients ghost. Neither side has visibility after booking.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5184648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51846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512978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Platforms tax the pro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577840" y="5129784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booking apps charge commissions and fees, squeezing solo professionals who already run on thin margins.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app. Both sides. Ride-share polish.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26948" y="1367028"/>
            <a:ext cx="1833015" cy="3849624"/>
          </a:xfrm>
          <a:prstGeom prst="roundRect">
            <a:avLst>
              <a:gd name="adj" fmla="val 7982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Users/tech/workspace/boujee-book/public/screen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1732431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349240"/>
            <a:ext cx="2372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licensed pros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2962299" y="1367028"/>
            <a:ext cx="1833015" cy="3849624"/>
          </a:xfrm>
          <a:prstGeom prst="roundRect">
            <a:avLst>
              <a:gd name="adj" fmla="val 7982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/Users/tech/workspace/boujee-book/public/screenshots/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591" y="1417320"/>
            <a:ext cx="1732431" cy="3749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692551" y="5349240"/>
            <a:ext cx="2372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real openings in five taps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5197651" y="1367028"/>
            <a:ext cx="1833015" cy="3849624"/>
          </a:xfrm>
          <a:prstGeom prst="roundRect">
            <a:avLst>
              <a:gd name="adj" fmla="val 7982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2" descr="/Users/tech/workspace/boujee-book/public/screenshots/trac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943" y="1417320"/>
            <a:ext cx="1732431" cy="3749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927903" y="5349240"/>
            <a:ext cx="2372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them arrive — live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7711894" y="1600200"/>
            <a:ext cx="3974138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940494" y="1728216"/>
            <a:ext cx="3535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like a ride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7940494" y="2075688"/>
            <a:ext cx="34895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availability with server-enforced conflict prevention. Double-booking is impossible.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11894" y="3017520"/>
            <a:ext cx="3974138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940494" y="3145536"/>
            <a:ext cx="3535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like a delivery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7940494" y="3493008"/>
            <a:ext cx="34895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live GPS during active bookings: on my way, arrived, done — with ETA.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711894" y="4434840"/>
            <a:ext cx="3974138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940494" y="4562856"/>
            <a:ext cx="3535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like a friend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940494" y="4910328"/>
            <a:ext cx="348950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commission. Pros keep 100% of service revenue; the platform runs on memberships.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else lets you watch your stylist arrive.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901952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Two-way live GPS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sees the pro approaching; the pro sees exactly where the house call is. Both opt in per booking.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017520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1693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Journey statuses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26440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→ on my way → arrived → done. Every step notifies the other side instantly.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133088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ETA &amp; distance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4379976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map, real position, honest arrival estimate — like every delivery app your users already trust.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248656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48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Privacy-first by design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495544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shares only during an active booking and is permanently deleted the moment it ends.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2228" y="516636"/>
            <a:ext cx="2720358" cy="5769864"/>
          </a:xfrm>
          <a:prstGeom prst="roundRect">
            <a:avLst>
              <a:gd name="adj" fmla="val 5378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16" name="Image 0" descr="/Users/tech/workspace/boujee-book/public/screenshots/tr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566928"/>
            <a:ext cx="2619774" cy="56692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 get a business-in-a-box. Free to run.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18388" y="1412748"/>
            <a:ext cx="2023160" cy="4261104"/>
          </a:xfrm>
          <a:prstGeom prst="roundRect">
            <a:avLst>
              <a:gd name="adj" fmla="val 7231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Users/tech/workspace/boujee-book/public/screenshots/pro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1922576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2948" y="1641348"/>
            <a:ext cx="2023160" cy="4261104"/>
          </a:xfrm>
          <a:prstGeom prst="roundRect">
            <a:avLst>
              <a:gd name="adj" fmla="val 7231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1" descr="/Users/tech/workspace/boujee-book/public/screenshots/pro-earn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91640"/>
            <a:ext cx="1922576" cy="41605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23560" y="1499616"/>
            <a:ext cx="365760" cy="36576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8" name="Text 4"/>
          <p:cNvSpPr/>
          <p:nvPr/>
        </p:nvSpPr>
        <p:spPr>
          <a:xfrm>
            <a:off x="5532120" y="14996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190488" y="143560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Self-serve onboarding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190488" y="1755648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capture, service menu, working hours — live and bookable the same day.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23560" y="2432304"/>
            <a:ext cx="365760" cy="36576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2" name="Text 8"/>
          <p:cNvSpPr/>
          <p:nvPr/>
        </p:nvSpPr>
        <p:spPr>
          <a:xfrm>
            <a:off x="5532120" y="24323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190488" y="236829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Anti-chaos calendar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190488" y="2688336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rules enforced server-side; requests expire; one-tap confirm.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23560" y="3364992"/>
            <a:ext cx="365760" cy="36576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3649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190488" y="330098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client CRM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6190488" y="3621024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history, favorite services, and lifetime value for every client, built automatically.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23560" y="4297680"/>
            <a:ext cx="365760" cy="36576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0" name="Text 16"/>
          <p:cNvSpPr/>
          <p:nvPr/>
        </p:nvSpPr>
        <p:spPr>
          <a:xfrm>
            <a:off x="5532120" y="4297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190488" y="42336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Earnings that make sense</a:t>
            </a:r>
            <a:endParaRPr lang="en-US" sz="1550" dirty="0"/>
          </a:p>
        </p:txBody>
      </p:sp>
      <p:sp>
        <p:nvSpPr>
          <p:cNvPr id="22" name="Text 18"/>
          <p:cNvSpPr/>
          <p:nvPr/>
        </p:nvSpPr>
        <p:spPr>
          <a:xfrm>
            <a:off x="6190488" y="4553712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/ weekly / monthly revenue, top services, CSV statements for tax time.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623560" y="5230368"/>
            <a:ext cx="365760" cy="36576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4" name="Text 20"/>
          <p:cNvSpPr/>
          <p:nvPr/>
        </p:nvSpPr>
        <p:spPr>
          <a:xfrm>
            <a:off x="5532120" y="5230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190488" y="51663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their money</a:t>
            </a:r>
            <a:endParaRPr lang="en-US" sz="1550" dirty="0"/>
          </a:p>
        </p:txBody>
      </p:sp>
      <p:sp>
        <p:nvSpPr>
          <p:cNvPr id="26" name="Text 22"/>
          <p:cNvSpPr/>
          <p:nvPr/>
        </p:nvSpPr>
        <p:spPr>
          <a:xfrm>
            <a:off x="6190488" y="5486400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commission — the platform monetizes memberships, not the pro's labor.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engineered in, not promised.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3611880" cy="2103120"/>
          </a:xfrm>
          <a:prstGeom prst="roundRect">
            <a:avLst>
              <a:gd name="adj" fmla="val 4348"/>
            </a:avLst>
          </a:prstGeom>
          <a:solidFill>
            <a:srgbClr val="F5F0E8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73736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License verification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58952" y="2688336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 submit state licenses; an admin trust queue reviews before the verified badge appears.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25112" y="1481328"/>
            <a:ext cx="3611880" cy="2103120"/>
          </a:xfrm>
          <a:prstGeom prst="roundRect">
            <a:avLst>
              <a:gd name="adj" fmla="val 4348"/>
            </a:avLst>
          </a:prstGeom>
          <a:solidFill>
            <a:srgbClr val="F5F0E8"/>
          </a:solidFill>
          <a:ln/>
        </p:spPr>
      </p:sp>
      <p:sp>
        <p:nvSpPr>
          <p:cNvPr id="9" name="Shape 7"/>
          <p:cNvSpPr/>
          <p:nvPr/>
        </p:nvSpPr>
        <p:spPr>
          <a:xfrm>
            <a:off x="4581144" y="173736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0" name="Text 8"/>
          <p:cNvSpPr/>
          <p:nvPr/>
        </p:nvSpPr>
        <p:spPr>
          <a:xfrm>
            <a:off x="4489704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81144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Moderation built-in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581144" y="2688336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any profile or conversation; block users; admin queues with audit-logged actions.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47304" y="1481328"/>
            <a:ext cx="3611880" cy="2103120"/>
          </a:xfrm>
          <a:prstGeom prst="roundRect">
            <a:avLst>
              <a:gd name="adj" fmla="val 4348"/>
            </a:avLst>
          </a:prstGeom>
          <a:solidFill>
            <a:srgbClr val="F5F0E8"/>
          </a:solidFill>
          <a:ln/>
        </p:spPr>
      </p:sp>
      <p:sp>
        <p:nvSpPr>
          <p:cNvPr id="14" name="Shape 12"/>
          <p:cNvSpPr/>
          <p:nvPr/>
        </p:nvSpPr>
        <p:spPr>
          <a:xfrm>
            <a:off x="8403336" y="173736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03336" y="2350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Dispute resolution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03336" y="2688336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dispute center; human review; resolution recorded and messaged to the customer.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813048"/>
            <a:ext cx="3611880" cy="2103120"/>
          </a:xfrm>
          <a:prstGeom prst="roundRect">
            <a:avLst>
              <a:gd name="adj" fmla="val 4348"/>
            </a:avLst>
          </a:prstGeom>
          <a:solidFill>
            <a:srgbClr val="F5F0E8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952" y="406908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" y="4069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8952" y="4681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Hardened platform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58952" y="5020056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auth, hashed credentials, session controls, security headers, full audit log.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25112" y="3813048"/>
            <a:ext cx="3611880" cy="2103120"/>
          </a:xfrm>
          <a:prstGeom prst="roundRect">
            <a:avLst>
              <a:gd name="adj" fmla="val 4348"/>
            </a:avLst>
          </a:prstGeom>
          <a:solidFill>
            <a:srgbClr val="F5F0E8"/>
          </a:solidFill>
          <a:ln/>
        </p:spPr>
      </p:sp>
      <p:sp>
        <p:nvSpPr>
          <p:cNvPr id="24" name="Shape 22"/>
          <p:cNvSpPr/>
          <p:nvPr/>
        </p:nvSpPr>
        <p:spPr>
          <a:xfrm>
            <a:off x="4581144" y="406908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5" name="Text 23"/>
          <p:cNvSpPr/>
          <p:nvPr/>
        </p:nvSpPr>
        <p:spPr>
          <a:xfrm>
            <a:off x="4489704" y="4069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81144" y="4681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rights, instant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4581144" y="5020056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data export and account deletion — GDPR / CCPA / App Store compliant.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47304" y="3813048"/>
            <a:ext cx="3611880" cy="2103120"/>
          </a:xfrm>
          <a:prstGeom prst="roundRect">
            <a:avLst>
              <a:gd name="adj" fmla="val 4348"/>
            </a:avLst>
          </a:prstGeom>
          <a:solidFill>
            <a:srgbClr val="F5F0E8"/>
          </a:solidFill>
          <a:ln/>
        </p:spPr>
      </p:sp>
      <p:sp>
        <p:nvSpPr>
          <p:cNvPr id="29" name="Shape 27"/>
          <p:cNvSpPr/>
          <p:nvPr/>
        </p:nvSpPr>
        <p:spPr>
          <a:xfrm>
            <a:off x="8403336" y="4069080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30" name="Text 28"/>
          <p:cNvSpPr/>
          <p:nvPr/>
        </p:nvSpPr>
        <p:spPr>
          <a:xfrm>
            <a:off x="8311896" y="4069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03336" y="4681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privacy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8403336" y="5020056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shared only during active bookings, deleted at completion. No ad trackers anywhere.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massive market still booked over DMs.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9202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~$95B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personal-care services spend (est.)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3832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Hair, barbering, nails, skin, lashes, massage — recession-resilient and habitual.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9202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~1.4M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99432" y="2788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beauty &amp; wellness professionals (est.)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99432" y="33832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majority independent or booth-renting — exactly who a 0% platform serves.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7304" y="160020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21624" y="19202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~$18B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421624" y="27889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Serviceable: urban mobile-first bookings (est.)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21624" y="33832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clients who already live in Uber, DoorDash, and Instagram.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Wedge: launch city-by-city with mobile-capable pros (house calls), where live tracking matters most and word of mouth is strongest.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figures are directional estimates from public industry data; detailed sourcing available in diligence.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Memberships, not commissions.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F5F0E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Basic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booking, reviews, reminders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$9.99/mo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2432304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1C1A1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42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Elite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windows, cancellation protection, rewards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2432304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$29.99/mo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401568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F5F0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112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 Basic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77240" y="38221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Calendar, messaging, standard payouts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3401568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$9.99/mo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370832"/>
            <a:ext cx="5303520" cy="822960"/>
          </a:xfrm>
          <a:prstGeom prst="roundRect">
            <a:avLst>
              <a:gd name="adj" fmla="val 8889"/>
            </a:avLst>
          </a:prstGeom>
          <a:solidFill>
            <a:srgbClr val="1C1A1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480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 Elite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479145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payouts, featured placement, higher daily volume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43708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$29.99/mo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55321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 take-rate is the supply-acquisition weapon: pros bring their books — and their clients — with them.</a:t>
            </a:r>
            <a:endParaRPr lang="en-US" sz="1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63640" y="1417320"/>
          <a:ext cx="5440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63640" y="56692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model, not a forecast — assumes city-by-city rollout with blended ~$14/mo ARPU across the four tiers.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Calendars, agencies, and DMs — nobody owns the full loop.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11480" y="2093976"/>
            <a:ext cx="11384280" cy="566928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465576"/>
            <a:ext cx="11384280" cy="566928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" y="4837176"/>
            <a:ext cx="11384280" cy="566928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6" name="Shape 4"/>
          <p:cNvSpPr/>
          <p:nvPr/>
        </p:nvSpPr>
        <p:spPr>
          <a:xfrm>
            <a:off x="3886200" y="1371600"/>
            <a:ext cx="2057400" cy="4892040"/>
          </a:xfrm>
          <a:prstGeom prst="roundRect">
            <a:avLst>
              <a:gd name="adj" fmla="val 4444"/>
            </a:avLst>
          </a:prstGeom>
          <a:solidFill>
            <a:srgbClr val="1C1A17"/>
          </a:solidFill>
          <a:ln/>
        </p:spPr>
      </p:sp>
      <p:sp>
        <p:nvSpPr>
          <p:cNvPr id="7" name="Text 5"/>
          <p:cNvSpPr/>
          <p:nvPr/>
        </p:nvSpPr>
        <p:spPr>
          <a:xfrm>
            <a:off x="3977640" y="1463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Boujee Book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80760" y="1463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Booksy / StyleSeat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83880" y="14630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Glamsquad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0" y="1463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 DMs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live GPS tracking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977640" y="2148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80760" y="2148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838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0" y="2148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pro revenue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77640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80760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+ charges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83880" y="2834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margin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3520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verification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77640" y="3520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80760" y="3520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staff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3520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4206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availability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97764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807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8388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4892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Both-sides consumer app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977640" y="4892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080760" y="4892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Pro-first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4892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Client-first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058400" y="4892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5577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&amp; moderation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977640" y="5577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80760" y="5577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83880" y="5577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058400" y="5577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 isn't a promise. It's built.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48056" y="16002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shipped surfaces: customer app, pro studio, admin console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709160" y="1600200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4654296" y="16002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5544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two-way GPS tracking with journey statuses and ETA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87752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" y="258775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54203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engine — double-booking is impossible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2587752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4654296" y="258775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54203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pro onboarding with license verification queue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575304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448056" y="35753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529584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Messaging, reviews, favorites, notifications — all live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09160" y="3575304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4654296" y="35753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529584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Disputes, reporting, blocking, audit-logged moderation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4562856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" y="45628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4517136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hardening: rate limits, session controls, headers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709160" y="4562856"/>
            <a:ext cx="274320" cy="27432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5" name="Text 23"/>
          <p:cNvSpPr/>
          <p:nvPr/>
        </p:nvSpPr>
        <p:spPr>
          <a:xfrm>
            <a:off x="4654296" y="45628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20640" y="4517136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export &amp; account deletion (App Store / GDPR ready)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230868" y="1367028"/>
            <a:ext cx="2044288" cy="4306824"/>
          </a:xfrm>
          <a:prstGeom prst="roundRect">
            <a:avLst>
              <a:gd name="adj" fmla="val 7157"/>
            </a:avLst>
          </a:prstGeom>
          <a:solidFill>
            <a:srgbClr val="1C1A1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0" descr="/Users/tech/workspace/boujee-book/public/screenshot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1417320"/>
            <a:ext cx="1943704" cy="4206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02920" y="5715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60 days: Stripe payments + payouts, media uploads, production deploy, first-city pro recruitment.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a category brand.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60120" y="2011680"/>
            <a:ext cx="9966960" cy="0"/>
          </a:xfrm>
          <a:prstGeom prst="line">
            <a:avLst/>
          </a:prstGeom>
          <a:noFill/>
          <a:ln w="25400">
            <a:solidFill>
              <a:srgbClr val="E5DFD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54480" y="1847088"/>
            <a:ext cx="329184" cy="329184"/>
          </a:xfrm>
          <a:prstGeom prst="ellipse">
            <a:avLst/>
          </a:prstGeom>
          <a:solidFill>
            <a:srgbClr val="D4A843"/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launch city #1 · Stripe payments &amp; Connect payouts · pro recruitment engine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847088"/>
            <a:ext cx="329184" cy="32918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66160" y="32918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apps (App Store / Play) · push notifications · memberships live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32320" y="1847088"/>
            <a:ext cx="329184" cy="32918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Density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55080" y="32918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2–5 · background checks &amp; insurance partners · referral loops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921240" y="1847088"/>
            <a:ext cx="329184" cy="32918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0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5256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Moat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144000" y="32918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67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concierge booking · dynamic pricing tools for pros · B2B (salon suites, hotels)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88720" y="539496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C1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phase compounds the same flywheel: more verified pros → better selection → more clients → fuller books → more pros.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BOOK™  · 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AC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Raising $1.5M pre-seed.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of runway to launch, reach paid-membership revenue, and make city #1 undeniable.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2468880" cy="2148840"/>
          </a:xfrm>
          <a:prstGeom prst="roundRect">
            <a:avLst>
              <a:gd name="adj" fmla="val 4255"/>
            </a:avLst>
          </a:prstGeom>
          <a:solidFill>
            <a:srgbClr val="2A2724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703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&amp; mobile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rails, iOS/Android apps, uploads, realtime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880360"/>
            <a:ext cx="2468880" cy="2148840"/>
          </a:xfrm>
          <a:prstGeom prst="roundRect">
            <a:avLst>
              <a:gd name="adj" fmla="val 4255"/>
            </a:avLst>
          </a:prstGeom>
          <a:solidFill>
            <a:srgbClr val="2A2724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57600" y="3703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0690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 and verify the first 500 professionals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2880360"/>
            <a:ext cx="2468880" cy="2148840"/>
          </a:xfrm>
          <a:prstGeom prst="roundRect">
            <a:avLst>
              <a:gd name="adj" fmla="val 4255"/>
            </a:avLst>
          </a:prstGeom>
          <a:solidFill>
            <a:srgbClr val="2A2724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55080" y="3703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40690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launch marketing and referral loops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23960" y="2880360"/>
            <a:ext cx="2468880" cy="2148840"/>
          </a:xfrm>
          <a:prstGeom prst="roundRect">
            <a:avLst>
              <a:gd name="adj" fmla="val 4255"/>
            </a:avLst>
          </a:prstGeom>
          <a:solidFill>
            <a:srgbClr val="2A2724"/>
          </a:solidFill>
          <a:ln w="12700">
            <a:solidFill>
              <a:srgbClr val="3A36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052560" y="3703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&amp; ops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52560" y="40690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Verification, background checks, support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BOUJEE BOOK</a:t>
            </a:r>
            <a:pPr indent="0" marL="0">
              <a:buNone/>
            </a:pPr>
            <a:r>
              <a:rPr lang="en-US" sz="1200" spc="100" kern="0" dirty="0">
                <a:solidFill>
                  <a:srgbClr val="8A8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™  ·  Track Them · Book Them · Love Them™  ·  help@boujeebook.app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2026-07-30T17:01:04Z</dcterms:created>
  <dcterms:modified xsi:type="dcterms:W3CDTF">2026-07-30T17:01:04Z</dcterms:modified>
</cp:coreProperties>
</file>