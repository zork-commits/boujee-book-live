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C1A17"/>
                </a:solidFill>
                <a:latin typeface="Cambria"/>
              </a:defRPr>
            </a:pPr>
            <a:r>
              <a:rPr sz="1400" b="0" i="0" u="none" strike="noStrike">
                <a:solidFill>
                  <a:srgbClr val="1C1A17"/>
                </a:solidFill>
                <a:latin typeface="Cambria"/>
              </a:rPr>
              <a:t>Illustrative membership ARR ($M)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Membership ARR (illustrative)</c:v>
                </c:pt>
              </c:strCache>
            </c:strRef>
          </c:tx>
          <c:spPr>
            <a:solidFill>
              <a:srgbClr val="D4A843"/>
            </a:solidFill>
            <a:effectLst/>
          </c:spPr>
          <c:invertIfNegative val="0"/>
          <c:dLbls>
            <c:numFmt formatCode="$0.0&quot;M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C1A1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</c:v>
                </c:pt>
                <c:pt idx="1">
                  <c:v>2.1</c:v>
                </c:pt>
                <c:pt idx="2">
                  <c:v>6.8</c:v>
                </c:pt>
              </c:numCache>
            </c:numRef>
          </c:val>
        </c:ser>
        <c:dLbls>
          <c:numFmt formatCode="$0.0&quot;M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C1A1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E675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675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Boujee Book brings the Uber playbook to the $95B personal-care economy. This is a real screenshot of the working product — live GPS tracking of your barber on the way to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pain from both sides: customers can't find/trust/track; professionals lose income to coordination overhead, no-shows, and platform take-rates.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live product screenshots, not mockups. The three pillars: booking without phone tag, tracking without blind waits, pricing without commissions.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wedge feature. Booksy and StyleSeat are calendars; Glamsquad is an agency. None offer consumer-grade live tracking. It converts anxiety (is my pro coming?) into delight, and it's already built.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Supply side is the constraint in every services marketplace. Our pitch to pros is unbeatable: a full booking + CRM + earnings stack, zero take-rate. Screenshots are the live pro dashboard and earnings screens.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Trust features are usually a seed-stage promise; here they're shipped: license queue, moderation, disputes, audit logs, data rights. This also clears App Store review requirements (UGC moderation, account deletion).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TAM honest: ~$95B US services spend is a widely-cited ballpark; the wedge is urban mobile-first bookings. City-by-city density beats national thinness.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Subscription economics: predictable revenue, no take-rate fights, and the 0% commission story recruits supply. The chart is explicitly illustrative — swap with your live numbers post-launch.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Booksy/StyleSeat are pro-side calendars with fees; Glamsquad is a managed agency (thin margins, limited supply); DMs are free but chaotic. The full loop — discovery, booking, tracking, trust, zero commission — is unclaimed.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Traction slide for a pre-launch company = execution velocity. The entire platform in this deck is functional today; remaining launch work is integrations (Stripe, storage, email), not product invention.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Sequence: prove one city, go mobile for retention, then density and moat features. The Capacitor path reuses the shipped codebase for the app stores.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Adjust the raise amount and allocation to your actual plan before sending — the structure is what matters: integrations + supply + one-city proof. Close on the demo: the product works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55448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6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THEM · BOOK THEM · LOVE THEM™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192024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spc="4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BOUJEE BOOK</a:t>
            </a:r>
            <a:pPr indent="0" marL="0">
              <a:buNone/>
            </a:pPr>
            <a:r>
              <a:rPr lang="en-US" sz="2000" b="1" spc="400" kern="0" dirty="0">
                <a:solidFill>
                  <a:srgbClr val="D4A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™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306324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D8D2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Operating System for Personal Care.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37947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B8B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licensed beauty professionals. Watch them arrive like a ride-share.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B8B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commission — pros keep 100%.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5852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  ·  July 2026  ·  help@boujeebook.app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727948" y="635508"/>
            <a:ext cx="2635849" cy="5586984"/>
          </a:xfrm>
          <a:prstGeom prst="roundRect">
            <a:avLst>
              <a:gd name="adj" fmla="val 5551"/>
            </a:avLst>
          </a:prstGeom>
          <a:solidFill>
            <a:srgbClr val="1C1A17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pic>
        <p:nvPicPr>
          <p:cNvPr id="8" name="Image 0" descr="/Users/tech/workspace/boujee-book/public/screenshots/track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0" y="685800"/>
            <a:ext cx="2535265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 care still runs on DMs and no-shows.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66928" y="1563624"/>
            <a:ext cx="457200" cy="45720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75488" y="156362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25880" y="150876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Discovery is fragmented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577840" y="150876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6E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a great barber or lash tech means Instagram archaeology, screenshots, and word of mouth. There is no trusted, licensed marketplace.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2770632"/>
            <a:ext cx="457200" cy="45720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" y="277063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5880" y="2715768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Booking is phone tag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577840" y="2715768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6E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DMs, missed calls, double-booked slots. Independent pros spend hours a week coordinating instead of working.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66928" y="3977640"/>
            <a:ext cx="457200" cy="45720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" y="39776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25880" y="3922776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No-shows and blind waits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5577840" y="3922776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6E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don't know if the pro is coming; pros eat the cost when clients ghost. Neither side has visibility after booking.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66928" y="5184648"/>
            <a:ext cx="457200" cy="45720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" y="518464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25880" y="5129784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Platforms tax the pro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5577840" y="5129784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6E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booking apps charge commissions and fees, squeezing solo professionals who already run on thin margins.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B4AC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BOUJEE BOOK™  ·  CONFIDENTIAL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1430000" y="6473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4AC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app. Both sides. Ride-share polish.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26948" y="1367028"/>
            <a:ext cx="1833015" cy="3849624"/>
          </a:xfrm>
          <a:prstGeom prst="roundRect">
            <a:avLst>
              <a:gd name="adj" fmla="val 7982"/>
            </a:avLst>
          </a:prstGeom>
          <a:solidFill>
            <a:srgbClr val="1C1A17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pic>
        <p:nvPicPr>
          <p:cNvPr id="4" name="Image 0" descr="/Users/tech/workspace/boujee-book/public/screenshots/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417320"/>
            <a:ext cx="1732431" cy="3749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5349240"/>
            <a:ext cx="23725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licensed pros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2962299" y="1367028"/>
            <a:ext cx="1833015" cy="3849624"/>
          </a:xfrm>
          <a:prstGeom prst="roundRect">
            <a:avLst>
              <a:gd name="adj" fmla="val 7982"/>
            </a:avLst>
          </a:prstGeom>
          <a:solidFill>
            <a:srgbClr val="1C1A17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pic>
        <p:nvPicPr>
          <p:cNvPr id="7" name="Image 1" descr="/Users/tech/workspace/boujee-book/public/screenshots/book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2591" y="1417320"/>
            <a:ext cx="1732431" cy="3749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692551" y="5349240"/>
            <a:ext cx="23725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real openings in five taps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5197651" y="1367028"/>
            <a:ext cx="1833015" cy="3849624"/>
          </a:xfrm>
          <a:prstGeom prst="roundRect">
            <a:avLst>
              <a:gd name="adj" fmla="val 7982"/>
            </a:avLst>
          </a:prstGeom>
          <a:solidFill>
            <a:srgbClr val="1C1A17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pic>
        <p:nvPicPr>
          <p:cNvPr id="10" name="Image 2" descr="/Users/tech/workspace/boujee-book/public/screenshots/track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7943" y="1417320"/>
            <a:ext cx="1732431" cy="3749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927903" y="5349240"/>
            <a:ext cx="23725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them arrive — live</a:t>
            </a:r>
            <a:endParaRPr lang="en-US" sz="1250" dirty="0"/>
          </a:p>
        </p:txBody>
      </p:sp>
      <p:sp>
        <p:nvSpPr>
          <p:cNvPr id="12" name="Shape 7"/>
          <p:cNvSpPr/>
          <p:nvPr/>
        </p:nvSpPr>
        <p:spPr>
          <a:xfrm>
            <a:off x="7711894" y="1600200"/>
            <a:ext cx="3974138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5DFD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7940494" y="1728216"/>
            <a:ext cx="35352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 like a ride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7940494" y="2075688"/>
            <a:ext cx="348950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availability with server-enforced conflict prevention. Double-booking is impossible.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7711894" y="3017520"/>
            <a:ext cx="3974138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5DFD2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7940494" y="3145536"/>
            <a:ext cx="35352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 like a delivery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7940494" y="3493008"/>
            <a:ext cx="348950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Two-way live GPS during active bookings: on my way, arrived, done — with ETA.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7711894" y="4434840"/>
            <a:ext cx="3974138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5DFD2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7940494" y="4562856"/>
            <a:ext cx="35352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Priced like a friend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7940494" y="4910328"/>
            <a:ext cx="348950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commission. Pros keep 100% of service revenue; the platform runs on memberships.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B4AC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BOUJEE BOOK™  ·  CONFIDENTIAL</a:t>
            </a:r>
            <a:endParaRPr lang="en-US" sz="800" dirty="0"/>
          </a:p>
        </p:txBody>
      </p:sp>
      <p:sp>
        <p:nvSpPr>
          <p:cNvPr id="22" name="Text 17"/>
          <p:cNvSpPr/>
          <p:nvPr/>
        </p:nvSpPr>
        <p:spPr>
          <a:xfrm>
            <a:off x="11430000" y="6473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4AC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1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7589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one else lets you watch your stylist arrive.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1901952"/>
            <a:ext cx="146304" cy="146304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80136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4A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Two-way live GPS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14400" y="214884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9C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sees the pro approaching; the pro sees exactly where the house call is. Both opt in per booking.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3017520"/>
            <a:ext cx="146304" cy="146304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916936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4A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Journey statuses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3264408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9C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→ on my way → arrived → done. Every step notifies the other side instantly.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4133088"/>
            <a:ext cx="146304" cy="146304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032504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4A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ETA &amp; distance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14400" y="4379976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9C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map, real position, honest arrival estimate — like every delivery app your users already trust.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5248656"/>
            <a:ext cx="146304" cy="146304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5148072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4A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Privacy-first by design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14400" y="5495544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9C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shares only during an active booking and is permanently deleted the moment it ends.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682228" y="516636"/>
            <a:ext cx="2720358" cy="5769864"/>
          </a:xfrm>
          <a:prstGeom prst="roundRect">
            <a:avLst>
              <a:gd name="adj" fmla="val 5378"/>
            </a:avLst>
          </a:prstGeom>
          <a:solidFill>
            <a:srgbClr val="1C1A17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pic>
        <p:nvPicPr>
          <p:cNvPr id="16" name="Image 0" descr="/Users/tech/workspace/boujee-book/public/screenshots/track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0" y="566928"/>
            <a:ext cx="2619774" cy="566928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A8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BOUJEE BOOK™  ·  CONFIDENTIAL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1430000" y="6473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Pros get a business-in-a-box. Free to run.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18388" y="1412748"/>
            <a:ext cx="2023160" cy="4261104"/>
          </a:xfrm>
          <a:prstGeom prst="roundRect">
            <a:avLst>
              <a:gd name="adj" fmla="val 7231"/>
            </a:avLst>
          </a:prstGeom>
          <a:solidFill>
            <a:srgbClr val="1C1A17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pic>
        <p:nvPicPr>
          <p:cNvPr id="4" name="Image 0" descr="/Users/tech/workspace/boujee-book/public/screenshots/pro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463040"/>
            <a:ext cx="1922576" cy="4160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012948" y="1641348"/>
            <a:ext cx="2023160" cy="4261104"/>
          </a:xfrm>
          <a:prstGeom prst="roundRect">
            <a:avLst>
              <a:gd name="adj" fmla="val 7231"/>
            </a:avLst>
          </a:prstGeom>
          <a:solidFill>
            <a:srgbClr val="1C1A17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1" descr="/Users/tech/workspace/boujee-book/public/screenshots/pro-earnin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240" y="1691640"/>
            <a:ext cx="1922576" cy="41605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623560" y="1499616"/>
            <a:ext cx="365760" cy="36576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8" name="Text 4"/>
          <p:cNvSpPr/>
          <p:nvPr/>
        </p:nvSpPr>
        <p:spPr>
          <a:xfrm>
            <a:off x="5532120" y="149961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6190488" y="1435608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Self-serve onboarding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6190488" y="1755648"/>
            <a:ext cx="5806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capture, service menu, working hours — live and bookable the same day.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5623560" y="2432304"/>
            <a:ext cx="365760" cy="36576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2" name="Text 8"/>
          <p:cNvSpPr/>
          <p:nvPr/>
        </p:nvSpPr>
        <p:spPr>
          <a:xfrm>
            <a:off x="5532120" y="243230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190488" y="236829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Anti-chaos calendar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6190488" y="2688336"/>
            <a:ext cx="5806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rules enforced server-side; requests expire; one-tap confirm.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623560" y="3364992"/>
            <a:ext cx="365760" cy="36576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6" name="Text 12"/>
          <p:cNvSpPr/>
          <p:nvPr/>
        </p:nvSpPr>
        <p:spPr>
          <a:xfrm>
            <a:off x="5532120" y="336499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190488" y="3300984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 client CRM</a:t>
            </a:r>
            <a:endParaRPr lang="en-US" sz="1550" dirty="0"/>
          </a:p>
        </p:txBody>
      </p:sp>
      <p:sp>
        <p:nvSpPr>
          <p:cNvPr id="18" name="Text 14"/>
          <p:cNvSpPr/>
          <p:nvPr/>
        </p:nvSpPr>
        <p:spPr>
          <a:xfrm>
            <a:off x="6190488" y="3621024"/>
            <a:ext cx="5806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history, favorite services, and lifetime value for every client, built automatically.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5623560" y="4297680"/>
            <a:ext cx="365760" cy="36576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20" name="Text 16"/>
          <p:cNvSpPr/>
          <p:nvPr/>
        </p:nvSpPr>
        <p:spPr>
          <a:xfrm>
            <a:off x="5532120" y="42976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6190488" y="423367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Earnings that make sense</a:t>
            </a:r>
            <a:endParaRPr lang="en-US" sz="1550" dirty="0"/>
          </a:p>
        </p:txBody>
      </p:sp>
      <p:sp>
        <p:nvSpPr>
          <p:cNvPr id="22" name="Text 18"/>
          <p:cNvSpPr/>
          <p:nvPr/>
        </p:nvSpPr>
        <p:spPr>
          <a:xfrm>
            <a:off x="6190488" y="4553712"/>
            <a:ext cx="5806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/ weekly / monthly revenue, top services, CSV statements for tax time.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5623560" y="5230368"/>
            <a:ext cx="365760" cy="36576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24" name="Text 20"/>
          <p:cNvSpPr/>
          <p:nvPr/>
        </p:nvSpPr>
        <p:spPr>
          <a:xfrm>
            <a:off x="5532120" y="52303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6190488" y="516636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 of their money</a:t>
            </a:r>
            <a:endParaRPr lang="en-US" sz="1550" dirty="0"/>
          </a:p>
        </p:txBody>
      </p:sp>
      <p:sp>
        <p:nvSpPr>
          <p:cNvPr id="26" name="Text 22"/>
          <p:cNvSpPr/>
          <p:nvPr/>
        </p:nvSpPr>
        <p:spPr>
          <a:xfrm>
            <a:off x="6190488" y="5486400"/>
            <a:ext cx="5806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commission — the platform monetizes memberships, not the pro's labor.</a:t>
            </a:r>
            <a:endParaRPr lang="en-US" sz="1150" dirty="0"/>
          </a:p>
        </p:txBody>
      </p:sp>
      <p:sp>
        <p:nvSpPr>
          <p:cNvPr id="27" name="Text 23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B4AC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BOUJEE BOOK™  ·  CONFIDENTIAL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11430000" y="6473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4AC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is engineered in, not promised.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481328"/>
            <a:ext cx="3611880" cy="2103120"/>
          </a:xfrm>
          <a:prstGeom prst="roundRect">
            <a:avLst>
              <a:gd name="adj" fmla="val 4348"/>
            </a:avLst>
          </a:prstGeom>
          <a:solidFill>
            <a:srgbClr val="F5F0E8"/>
          </a:solidFill>
          <a:ln/>
        </p:spPr>
      </p:sp>
      <p:sp>
        <p:nvSpPr>
          <p:cNvPr id="4" name="Shape 2"/>
          <p:cNvSpPr/>
          <p:nvPr/>
        </p:nvSpPr>
        <p:spPr>
          <a:xfrm>
            <a:off x="758952" y="1737360"/>
            <a:ext cx="457200" cy="45720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5" name="Text 3"/>
          <p:cNvSpPr/>
          <p:nvPr/>
        </p:nvSpPr>
        <p:spPr>
          <a:xfrm>
            <a:off x="667512" y="17373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58952" y="23500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License verification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58952" y="2688336"/>
            <a:ext cx="3127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E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 submit state licenses; an admin trust queue reviews before the verified badge appears.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25112" y="1481328"/>
            <a:ext cx="3611880" cy="2103120"/>
          </a:xfrm>
          <a:prstGeom prst="roundRect">
            <a:avLst>
              <a:gd name="adj" fmla="val 4348"/>
            </a:avLst>
          </a:prstGeom>
          <a:solidFill>
            <a:srgbClr val="F5F0E8"/>
          </a:solidFill>
          <a:ln/>
        </p:spPr>
      </p:sp>
      <p:sp>
        <p:nvSpPr>
          <p:cNvPr id="9" name="Shape 7"/>
          <p:cNvSpPr/>
          <p:nvPr/>
        </p:nvSpPr>
        <p:spPr>
          <a:xfrm>
            <a:off x="4581144" y="1737360"/>
            <a:ext cx="457200" cy="45720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0" name="Text 8"/>
          <p:cNvSpPr/>
          <p:nvPr/>
        </p:nvSpPr>
        <p:spPr>
          <a:xfrm>
            <a:off x="4489704" y="17373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81144" y="23500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Moderation built-in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581144" y="2688336"/>
            <a:ext cx="3127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E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any profile or conversation; block users; admin queues with audit-logged actions.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47304" y="1481328"/>
            <a:ext cx="3611880" cy="2103120"/>
          </a:xfrm>
          <a:prstGeom prst="roundRect">
            <a:avLst>
              <a:gd name="adj" fmla="val 4348"/>
            </a:avLst>
          </a:prstGeom>
          <a:solidFill>
            <a:srgbClr val="F5F0E8"/>
          </a:solidFill>
          <a:ln/>
        </p:spPr>
      </p:sp>
      <p:sp>
        <p:nvSpPr>
          <p:cNvPr id="14" name="Shape 12"/>
          <p:cNvSpPr/>
          <p:nvPr/>
        </p:nvSpPr>
        <p:spPr>
          <a:xfrm>
            <a:off x="8403336" y="1737360"/>
            <a:ext cx="457200" cy="45720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5" name="Text 13"/>
          <p:cNvSpPr/>
          <p:nvPr/>
        </p:nvSpPr>
        <p:spPr>
          <a:xfrm>
            <a:off x="8311896" y="17373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403336" y="23500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Dispute resolution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403336" y="2688336"/>
            <a:ext cx="3127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E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dispute center; human review; resolution recorded and messaged to the customer.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3813048"/>
            <a:ext cx="3611880" cy="2103120"/>
          </a:xfrm>
          <a:prstGeom prst="roundRect">
            <a:avLst>
              <a:gd name="adj" fmla="val 4348"/>
            </a:avLst>
          </a:prstGeom>
          <a:solidFill>
            <a:srgbClr val="F5F0E8"/>
          </a:solidFill>
          <a:ln/>
        </p:spPr>
      </p:sp>
      <p:sp>
        <p:nvSpPr>
          <p:cNvPr id="19" name="Shape 17"/>
          <p:cNvSpPr/>
          <p:nvPr/>
        </p:nvSpPr>
        <p:spPr>
          <a:xfrm>
            <a:off x="758952" y="4069080"/>
            <a:ext cx="457200" cy="45720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20" name="Text 18"/>
          <p:cNvSpPr/>
          <p:nvPr/>
        </p:nvSpPr>
        <p:spPr>
          <a:xfrm>
            <a:off x="667512" y="40690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58952" y="46817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Hardened platform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758952" y="5020056"/>
            <a:ext cx="3127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E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Rate-limited auth, hashed credentials, session controls, security headers, full audit log.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325112" y="3813048"/>
            <a:ext cx="3611880" cy="2103120"/>
          </a:xfrm>
          <a:prstGeom prst="roundRect">
            <a:avLst>
              <a:gd name="adj" fmla="val 4348"/>
            </a:avLst>
          </a:prstGeom>
          <a:solidFill>
            <a:srgbClr val="F5F0E8"/>
          </a:solidFill>
          <a:ln/>
        </p:spPr>
      </p:sp>
      <p:sp>
        <p:nvSpPr>
          <p:cNvPr id="24" name="Shape 22"/>
          <p:cNvSpPr/>
          <p:nvPr/>
        </p:nvSpPr>
        <p:spPr>
          <a:xfrm>
            <a:off x="4581144" y="4069080"/>
            <a:ext cx="457200" cy="45720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25" name="Text 23"/>
          <p:cNvSpPr/>
          <p:nvPr/>
        </p:nvSpPr>
        <p:spPr>
          <a:xfrm>
            <a:off x="4489704" y="40690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581144" y="46817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rights, instant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4581144" y="5020056"/>
            <a:ext cx="3127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E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data export and account deletion — GDPR / CCPA / App Store compliant.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147304" y="3813048"/>
            <a:ext cx="3611880" cy="2103120"/>
          </a:xfrm>
          <a:prstGeom prst="roundRect">
            <a:avLst>
              <a:gd name="adj" fmla="val 4348"/>
            </a:avLst>
          </a:prstGeom>
          <a:solidFill>
            <a:srgbClr val="F5F0E8"/>
          </a:solidFill>
          <a:ln/>
        </p:spPr>
      </p:sp>
      <p:sp>
        <p:nvSpPr>
          <p:cNvPr id="29" name="Shape 27"/>
          <p:cNvSpPr/>
          <p:nvPr/>
        </p:nvSpPr>
        <p:spPr>
          <a:xfrm>
            <a:off x="8403336" y="4069080"/>
            <a:ext cx="457200" cy="45720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30" name="Text 28"/>
          <p:cNvSpPr/>
          <p:nvPr/>
        </p:nvSpPr>
        <p:spPr>
          <a:xfrm>
            <a:off x="8311896" y="40690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403336" y="46817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Location privacy</a:t>
            </a:r>
            <a:endParaRPr lang="en-US" sz="1550" dirty="0"/>
          </a:p>
        </p:txBody>
      </p:sp>
      <p:sp>
        <p:nvSpPr>
          <p:cNvPr id="32" name="Text 30"/>
          <p:cNvSpPr/>
          <p:nvPr/>
        </p:nvSpPr>
        <p:spPr>
          <a:xfrm>
            <a:off x="8403336" y="5020056"/>
            <a:ext cx="3127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E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shared only during active bookings, deleted at completion. No ad trackers anywhere.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B4AC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BOUJEE BOOK™  ·  CONFIDENTIAL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1430000" y="6473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4AC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massive market still booked over DMs.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600200"/>
            <a:ext cx="361188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E5DFD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9202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4A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~$95B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77240" y="27889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personal-care services spend (est.)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338328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Hair, barbering, nails, skin, lashes, massage — recession-resilient and habitual.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25112" y="1600200"/>
            <a:ext cx="361188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E5DF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99432" y="19202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4A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~1.4M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599432" y="27889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beauty &amp; wellness professionals (est.)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99432" y="338328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majority independent or booth-renting — exactly who a 0% platform serves.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147304" y="1600200"/>
            <a:ext cx="361188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E5DF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21624" y="19202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4A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~$18B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8421624" y="27889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Serviceable: urban mobile-first bookings (est.)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421624" y="338328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 clients who already live in Uber, DoorDash, and Instagram.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2920" y="507492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i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Wedge: launch city-by-city with mobile-capable pros (house calls), where live tracking matters most and word of mouth is strongest.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2920" y="594360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figures are directional estimates from public industry data; detailed sourcing available in diligence.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B4AC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BOUJEE BOOK™  ·  CONFIDENTIAL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1430000" y="6473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4AC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Memberships, not commissions.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463040"/>
            <a:ext cx="5303520" cy="822960"/>
          </a:xfrm>
          <a:prstGeom prst="roundRect">
            <a:avLst>
              <a:gd name="adj" fmla="val 8889"/>
            </a:avLst>
          </a:prstGeom>
          <a:solidFill>
            <a:srgbClr val="F5F0E8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5727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Basic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77240" y="188366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booking, reviews, reminders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434840" y="146304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$9.99/mo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2432304"/>
            <a:ext cx="5303520" cy="822960"/>
          </a:xfrm>
          <a:prstGeom prst="roundRect">
            <a:avLst>
              <a:gd name="adj" fmla="val 8889"/>
            </a:avLst>
          </a:prstGeom>
          <a:solidFill>
            <a:srgbClr val="1C1A17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5420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4A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Elite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77240" y="285292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C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windows, cancellation protection, rewards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434840" y="2432304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$29.99/mo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2920" y="3401568"/>
            <a:ext cx="5303520" cy="822960"/>
          </a:xfrm>
          <a:prstGeom prst="roundRect">
            <a:avLst>
              <a:gd name="adj" fmla="val 8889"/>
            </a:avLst>
          </a:prstGeom>
          <a:solidFill>
            <a:srgbClr val="F5F0E8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5112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 Basic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77240" y="38221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Calendar, messaging, standard payouts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34840" y="3401568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$9.99/mo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2920" y="4370832"/>
            <a:ext cx="5303520" cy="822960"/>
          </a:xfrm>
          <a:prstGeom prst="roundRect">
            <a:avLst>
              <a:gd name="adj" fmla="val 8889"/>
            </a:avLst>
          </a:prstGeom>
          <a:solidFill>
            <a:srgbClr val="1C1A17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480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4A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 Elite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77240" y="479145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C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payouts, featured placement, higher daily volume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434840" y="4370832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$29.99/mo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2920" y="553212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i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0% take-rate is the supply-acquisition weapon: pros bring their books — and their clients — with them.</a:t>
            </a:r>
            <a:endParaRPr lang="en-US" sz="14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6263640" y="1417320"/>
          <a:ext cx="54406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Text 18"/>
          <p:cNvSpPr/>
          <p:nvPr/>
        </p:nvSpPr>
        <p:spPr>
          <a:xfrm>
            <a:off x="6263640" y="566928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E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model, not a forecast — assumes city-by-city rollout with blended ~$14/mo ARPU across the four tiers.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B4AC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BOUJEE BOOK™  ·  CONFIDENTIAL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11430000" y="6473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4AC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Calendars, agencies, and DMs — nobody owns the full loop.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11480" y="2093976"/>
            <a:ext cx="11384280" cy="566928"/>
          </a:xfrm>
          <a:prstGeom prst="rect">
            <a:avLst/>
          </a:prstGeom>
          <a:solidFill>
            <a:srgbClr val="F7F3EB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3465576"/>
            <a:ext cx="11384280" cy="566928"/>
          </a:xfrm>
          <a:prstGeom prst="rect">
            <a:avLst/>
          </a:prstGeom>
          <a:solidFill>
            <a:srgbClr val="F7F3EB"/>
          </a:solidFill>
          <a:ln/>
        </p:spPr>
      </p:sp>
      <p:sp>
        <p:nvSpPr>
          <p:cNvPr id="5" name="Shape 3"/>
          <p:cNvSpPr/>
          <p:nvPr/>
        </p:nvSpPr>
        <p:spPr>
          <a:xfrm>
            <a:off x="411480" y="4837176"/>
            <a:ext cx="11384280" cy="566928"/>
          </a:xfrm>
          <a:prstGeom prst="rect">
            <a:avLst/>
          </a:prstGeom>
          <a:solidFill>
            <a:srgbClr val="F7F3EB"/>
          </a:solidFill>
          <a:ln/>
        </p:spPr>
      </p:sp>
      <p:sp>
        <p:nvSpPr>
          <p:cNvPr id="6" name="Shape 4"/>
          <p:cNvSpPr/>
          <p:nvPr/>
        </p:nvSpPr>
        <p:spPr>
          <a:xfrm>
            <a:off x="3886200" y="1371600"/>
            <a:ext cx="2057400" cy="4892040"/>
          </a:xfrm>
          <a:prstGeom prst="roundRect">
            <a:avLst>
              <a:gd name="adj" fmla="val 4444"/>
            </a:avLst>
          </a:prstGeom>
          <a:solidFill>
            <a:srgbClr val="1C1A17"/>
          </a:solidFill>
          <a:ln/>
        </p:spPr>
      </p:sp>
      <p:sp>
        <p:nvSpPr>
          <p:cNvPr id="7" name="Text 5"/>
          <p:cNvSpPr/>
          <p:nvPr/>
        </p:nvSpPr>
        <p:spPr>
          <a:xfrm>
            <a:off x="3977640" y="14630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Boujee Book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080760" y="14630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Booksy / StyleSeat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183880" y="146304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Glamsquad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0" y="14630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Instagram DMs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1488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Two-way live GPS tracking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977640" y="21488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80760" y="21488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83880" y="21488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0" y="21488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28346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on pro revenue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977640" y="28346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080760" y="28346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 + charges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183880" y="28346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 margin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0" y="28346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" y="35204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verification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977640" y="35204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080760" y="35204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183880" y="35204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In-house staff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058400" y="3520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2920" y="42062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availability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977640" y="4206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080760" y="4206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183880" y="42062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058400" y="4206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2920" y="48920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Both-sides consumer app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977640" y="48920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080760" y="48920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Pro-first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183880" y="48920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Client-first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058400" y="4892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02920" y="55778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Disputes &amp; moderation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977640" y="55778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080760" y="55778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183880" y="55778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0058400" y="55778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B4AC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BOUJEE BOOK™  ·  CONFIDENTIAL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1430000" y="6473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4AC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product isn't a promise. It's built.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600200"/>
            <a:ext cx="274320" cy="2743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48056" y="160020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shipped surfaces: customer app, pro studio, admin console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709160" y="1600200"/>
            <a:ext cx="274320" cy="2743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7" name="Text 5"/>
          <p:cNvSpPr/>
          <p:nvPr/>
        </p:nvSpPr>
        <p:spPr>
          <a:xfrm>
            <a:off x="4654296" y="160020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120640" y="1554480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two-way GPS tracking with journey statuses and ETA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2587752"/>
            <a:ext cx="274320" cy="2743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" y="258775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542032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engine — double-booking is impossible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709160" y="2587752"/>
            <a:ext cx="274320" cy="2743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3" name="Text 11"/>
          <p:cNvSpPr/>
          <p:nvPr/>
        </p:nvSpPr>
        <p:spPr>
          <a:xfrm>
            <a:off x="4654296" y="258775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20640" y="2542032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 pro onboarding with license verification queue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3575304"/>
            <a:ext cx="274320" cy="2743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6" name="Text 14"/>
          <p:cNvSpPr/>
          <p:nvPr/>
        </p:nvSpPr>
        <p:spPr>
          <a:xfrm>
            <a:off x="448056" y="3575304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3529584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Messaging, reviews, favorites, notifications — all live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709160" y="3575304"/>
            <a:ext cx="274320" cy="2743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9" name="Text 17"/>
          <p:cNvSpPr/>
          <p:nvPr/>
        </p:nvSpPr>
        <p:spPr>
          <a:xfrm>
            <a:off x="4654296" y="3575304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120640" y="3529584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Disputes, reporting, blocking, audit-logged moderation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02920" y="4562856"/>
            <a:ext cx="274320" cy="2743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22" name="Text 20"/>
          <p:cNvSpPr/>
          <p:nvPr/>
        </p:nvSpPr>
        <p:spPr>
          <a:xfrm>
            <a:off x="448056" y="4562856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" y="4517136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hardening: rate limits, session controls, headers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709160" y="4562856"/>
            <a:ext cx="274320" cy="2743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25" name="Text 23"/>
          <p:cNvSpPr/>
          <p:nvPr/>
        </p:nvSpPr>
        <p:spPr>
          <a:xfrm>
            <a:off x="4654296" y="4562856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120640" y="4517136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export &amp; account deletion (App Store / GDPR ready)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9230868" y="1367028"/>
            <a:ext cx="2044288" cy="4306824"/>
          </a:xfrm>
          <a:prstGeom prst="roundRect">
            <a:avLst>
              <a:gd name="adj" fmla="val 7157"/>
            </a:avLst>
          </a:prstGeom>
          <a:solidFill>
            <a:srgbClr val="1C1A17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pic>
        <p:nvPicPr>
          <p:cNvPr id="28" name="Image 0" descr="/Users/tech/workspace/boujee-book/public/screenshots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0" y="1417320"/>
            <a:ext cx="1943704" cy="420624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502920" y="57150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i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60 days: Stripe payments + payouts, media uploads, production deploy, first-city pro recruitment.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B4AC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BOUJEE BOOK™  ·  CONFIDENTIAL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11430000" y="6473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4AC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to a category brand.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960120" y="2011680"/>
            <a:ext cx="9966960" cy="0"/>
          </a:xfrm>
          <a:prstGeom prst="line">
            <a:avLst/>
          </a:prstGeom>
          <a:noFill/>
          <a:ln w="25400">
            <a:solidFill>
              <a:srgbClr val="E5DFD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54480" y="1847088"/>
            <a:ext cx="329184" cy="329184"/>
          </a:xfrm>
          <a:prstGeom prst="ellipse">
            <a:avLst/>
          </a:prstGeom>
          <a:solidFill>
            <a:srgbClr val="D4A843"/>
          </a:solidFill>
          <a:ln w="25400">
            <a:solidFill>
              <a:srgbClr val="D4A84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377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2743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Launch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329184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E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launch city #1 · Stripe payments &amp; Connect payouts · pro recruitment engine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43400" y="1847088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4A8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2377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74720" y="2743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566160" y="329184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E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+ Android apps (App Store / Play) · push notifications · memberships live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132320" y="1847088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4A84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3640" y="2377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2027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63640" y="2743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Density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355080" y="329184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E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 2–5 · background checks &amp; insurance partners · referral loops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921240" y="1847088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4A84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52560" y="2377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2027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052560" y="2743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Moat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144000" y="329184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E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concierge booking · dynamic pricing tools for pros · B2B (salon suites, hotels)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88720" y="539496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phase compounds the same flywheel: more verified pros → better selection → more clients → fuller books → more pros.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B4AC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BOUJEE BOOK™  ·  CONFIDENTIAL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430000" y="6473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4AC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1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5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Raising $1.5M pre-seed.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196596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C9C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months of runway to launch, reach paid-membership revenue, and make city #1 undeniable.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880360"/>
            <a:ext cx="2468880" cy="2148840"/>
          </a:xfrm>
          <a:prstGeom prst="roundRect">
            <a:avLst>
              <a:gd name="adj" fmla="val 4255"/>
            </a:avLst>
          </a:prstGeom>
          <a:solidFill>
            <a:srgbClr val="2A2724"/>
          </a:solidFill>
          <a:ln w="12700">
            <a:solidFill>
              <a:srgbClr val="3A362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30632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60120" y="3703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&amp; mobile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406908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8B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rails, iOS/Android apps, uploads, realtime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29000" y="2880360"/>
            <a:ext cx="2468880" cy="2148840"/>
          </a:xfrm>
          <a:prstGeom prst="roundRect">
            <a:avLst>
              <a:gd name="adj" fmla="val 4255"/>
            </a:avLst>
          </a:prstGeom>
          <a:solidFill>
            <a:srgbClr val="2A2724"/>
          </a:solidFill>
          <a:ln w="12700">
            <a:solidFill>
              <a:srgbClr val="3A362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30632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657600" y="3703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0" y="406908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8B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 and verify the first 500 professionals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26480" y="2880360"/>
            <a:ext cx="2468880" cy="2148840"/>
          </a:xfrm>
          <a:prstGeom prst="roundRect">
            <a:avLst>
              <a:gd name="adj" fmla="val 4255"/>
            </a:avLst>
          </a:prstGeom>
          <a:solidFill>
            <a:srgbClr val="2A2724"/>
          </a:solidFill>
          <a:ln w="12700">
            <a:solidFill>
              <a:srgbClr val="3A362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30632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355080" y="3703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55080" y="406908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8B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City-level launch marketing and referral loops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823960" y="2880360"/>
            <a:ext cx="2468880" cy="2148840"/>
          </a:xfrm>
          <a:prstGeom prst="roundRect">
            <a:avLst>
              <a:gd name="adj" fmla="val 4255"/>
            </a:avLst>
          </a:prstGeom>
          <a:solidFill>
            <a:srgbClr val="2A2724"/>
          </a:solidFill>
          <a:ln w="12700">
            <a:solidFill>
              <a:srgbClr val="3A362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52560" y="30632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15%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052560" y="3703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&amp; ops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052560" y="406908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8B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Verification, background checks, support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31520" y="5806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BOUJEE BOOK</a:t>
            </a:r>
            <a:pPr indent="0" marL="0">
              <a:buNone/>
            </a:pPr>
            <a:r>
              <a:rPr lang="en-US" sz="1200" spc="100" kern="0" dirty="0">
                <a:solidFill>
                  <a:srgbClr val="8A8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™  ·  Track Them · Book Them · Love Them™  ·  help@boujeebook.app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2026-07-30T16:58:27Z</dcterms:created>
  <dcterms:modified xsi:type="dcterms:W3CDTF">2026-07-30T16:58:27Z</dcterms:modified>
</cp:coreProperties>
</file>